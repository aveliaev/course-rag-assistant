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7" r:id="rId5"/>
    <p:sldId id="268" r:id="rId6"/>
    <p:sldId id="269" r:id="rId7"/>
    <p:sldId id="270" r:id="rId8"/>
    <p:sldId id="275" r:id="rId9"/>
    <p:sldId id="266" r:id="rId10"/>
    <p:sldId id="272" r:id="rId11"/>
    <p:sldId id="277" r:id="rId12"/>
    <p:sldId id="278" r:id="rId13"/>
    <p:sldId id="276" r:id="rId14"/>
    <p:sldId id="271" r:id="rId15"/>
    <p:sldId id="279" r:id="rId16"/>
    <p:sldId id="273" r:id="rId17"/>
    <p:sldId id="281" r:id="rId18"/>
    <p:sldId id="265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D69"/>
    <a:srgbClr val="2C4878"/>
    <a:srgbClr val="7614BC"/>
    <a:srgbClr val="2327FF"/>
    <a:srgbClr val="4A5BBB"/>
    <a:srgbClr val="FFFFFF"/>
    <a:srgbClr val="E6E6E6"/>
    <a:srgbClr val="4472C4"/>
    <a:srgbClr val="000000"/>
    <a:srgbClr val="CB9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0" autoAdjust="0"/>
    <p:restoredTop sz="94660"/>
  </p:normalViewPr>
  <p:slideViewPr>
    <p:cSldViewPr snapToGrid="0">
      <p:cViewPr>
        <p:scale>
          <a:sx n="64" d="100"/>
          <a:sy n="64" d="100"/>
        </p:scale>
        <p:origin x="1024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1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60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4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90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23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88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64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7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26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67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BF095-79A9-4C93-A64F-74478DC4EEF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B368A-9B09-4111-A382-7EAA8C107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90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hyperlink" Target="https://nnov.hse.ru/ba/philology/partners" TargetMode="Externa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0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0.png"/><Relationship Id="rId4" Type="http://schemas.openxmlformats.org/officeDocument/2006/relationships/image" Target="../media/image4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681984" y="2404872"/>
            <a:ext cx="5727192" cy="1901952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Бакалаврская программа </a:t>
            </a:r>
            <a:br>
              <a:rPr lang="ru-RU" sz="3600" b="1" dirty="0">
                <a:solidFill>
                  <a:srgbClr val="102D69"/>
                </a:solidFill>
                <a:latin typeface="HSE Sans" panose="02000000000000000000" pitchFamily="50" charset="0"/>
              </a:rPr>
            </a:br>
            <a:r>
              <a:rPr lang="ru-RU" sz="3600" b="1" dirty="0">
                <a:solidFill>
                  <a:srgbClr val="102D69"/>
                </a:solidFill>
                <a:latin typeface="HSE Sans" panose="02000000000000000000" pitchFamily="50" charset="0"/>
              </a:rPr>
              <a:t>«Филология»</a:t>
            </a:r>
            <a:br>
              <a:rPr lang="ru-RU" sz="3600" b="1" dirty="0">
                <a:solidFill>
                  <a:srgbClr val="102D69"/>
                </a:solidFill>
                <a:latin typeface="HSE Sans" panose="02000000000000000000" pitchFamily="50" charset="0"/>
              </a:rPr>
            </a:b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НИУ ВШЭ – Нижний Новгород</a:t>
            </a:r>
            <a:endParaRPr lang="ru-RU" sz="32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1802" t="15207" r="9653" b="9156"/>
          <a:stretch/>
        </p:blipFill>
        <p:spPr>
          <a:xfrm>
            <a:off x="1362456" y="2404872"/>
            <a:ext cx="1892808" cy="190195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6580" t="5893" r="15898" b="4675"/>
          <a:stretch/>
        </p:blipFill>
        <p:spPr>
          <a:xfrm>
            <a:off x="9409176" y="2404872"/>
            <a:ext cx="1892808" cy="1901952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0" y="969264"/>
            <a:ext cx="12192000" cy="0"/>
          </a:xfrm>
          <a:prstGeom prst="line">
            <a:avLst/>
          </a:prstGeom>
          <a:ln w="38100">
            <a:solidFill>
              <a:srgbClr val="4A5BB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4"/>
          <a:srcRect t="11659" b="9028"/>
          <a:stretch/>
        </p:blipFill>
        <p:spPr>
          <a:xfrm rot="21171631">
            <a:off x="1893549" y="331855"/>
            <a:ext cx="1549524" cy="1274817"/>
          </a:xfrm>
          <a:prstGeom prst="rect">
            <a:avLst/>
          </a:prstGeom>
        </p:spPr>
      </p:pic>
      <p:cxnSp>
        <p:nvCxnSpPr>
          <p:cNvPr id="26" name="Прямая соединительная линия 25"/>
          <p:cNvCxnSpPr/>
          <p:nvPr/>
        </p:nvCxnSpPr>
        <p:spPr>
          <a:xfrm>
            <a:off x="0" y="5931408"/>
            <a:ext cx="12192000" cy="0"/>
          </a:xfrm>
          <a:prstGeom prst="line">
            <a:avLst/>
          </a:prstGeom>
          <a:ln w="38100">
            <a:solidFill>
              <a:srgbClr val="4A5BB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Рисунок 26"/>
          <p:cNvPicPr>
            <a:picLocks noChangeAspect="1"/>
          </p:cNvPicPr>
          <p:nvPr/>
        </p:nvPicPr>
        <p:blipFill rotWithShape="1">
          <a:blip r:embed="rId4"/>
          <a:srcRect t="11659" b="9028"/>
          <a:stretch/>
        </p:blipFill>
        <p:spPr>
          <a:xfrm rot="10353747">
            <a:off x="8388883" y="5269615"/>
            <a:ext cx="1549524" cy="1274817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4276">
            <a:off x="1953407" y="264009"/>
            <a:ext cx="1658836" cy="1410507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4276">
            <a:off x="8334227" y="5224630"/>
            <a:ext cx="1658836" cy="1410507"/>
          </a:xfrm>
          <a:prstGeom prst="rect">
            <a:avLst/>
          </a:prstGeom>
        </p:spPr>
      </p:pic>
      <p:cxnSp>
        <p:nvCxnSpPr>
          <p:cNvPr id="32" name="Прямая соединительная линия 31"/>
          <p:cNvCxnSpPr/>
          <p:nvPr/>
        </p:nvCxnSpPr>
        <p:spPr>
          <a:xfrm>
            <a:off x="0" y="1864385"/>
            <a:ext cx="12192000" cy="0"/>
          </a:xfrm>
          <a:prstGeom prst="line">
            <a:avLst/>
          </a:prstGeom>
          <a:ln w="57150">
            <a:solidFill>
              <a:srgbClr val="4A5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0" y="4942865"/>
            <a:ext cx="12192000" cy="0"/>
          </a:xfrm>
          <a:prstGeom prst="line">
            <a:avLst/>
          </a:prstGeom>
          <a:ln w="57150">
            <a:solidFill>
              <a:srgbClr val="4A5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21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Прямая соединительная линия 19"/>
          <p:cNvCxnSpPr/>
          <p:nvPr/>
        </p:nvCxnSpPr>
        <p:spPr>
          <a:xfrm>
            <a:off x="590169" y="1941150"/>
            <a:ext cx="11103483" cy="0"/>
          </a:xfrm>
          <a:prstGeom prst="line">
            <a:avLst/>
          </a:prstGeom>
          <a:ln w="38100">
            <a:solidFill>
              <a:srgbClr val="4A5BB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98348" y="280858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Филология в Нижегородской Вышке - это 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590169" y="2906986"/>
            <a:ext cx="3342132" cy="3353203"/>
          </a:xfrm>
          <a:prstGeom prst="roundRect">
            <a:avLst/>
          </a:prstGeom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Сильная академическая подготовка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600" dirty="0"/>
              <a:t>на программе преподают филологи с мировым именем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600" dirty="0"/>
              <a:t>постоянное взаимодействие с лучшими филологами России, Европы и США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600" dirty="0"/>
              <a:t>свобода научного поиска и мышления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600" dirty="0"/>
              <a:t>мы не даем готовые знания – мы учим процессу их обретения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472368" y="2906985"/>
            <a:ext cx="3342132" cy="3353203"/>
          </a:xfrm>
          <a:prstGeom prst="roundRect">
            <a:avLst/>
          </a:prstGeom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Уникальная образовательная и творческая среда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включение в реальные научные и творческие проекты, в том числе международные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выездные семинары, конференции, образовательные экскурсии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театрально-филологическая мастерская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354568" y="2906986"/>
            <a:ext cx="3342132" cy="3353203"/>
          </a:xfrm>
          <a:prstGeom prst="roundRect">
            <a:avLst/>
          </a:prstGeom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dirty="0"/>
          </a:p>
          <a:p>
            <a:pPr algn="ctr"/>
            <a:endParaRPr lang="ru-RU" sz="1600" b="1" dirty="0"/>
          </a:p>
          <a:p>
            <a:pPr algn="ctr"/>
            <a:endParaRPr lang="ru-RU" sz="1600" b="1" dirty="0"/>
          </a:p>
          <a:p>
            <a:pPr algn="ctr"/>
            <a:r>
              <a:rPr lang="ru-RU" sz="1600" b="1" dirty="0"/>
              <a:t>Отличные профессиональные перспективы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профессиональный поиск, верификация и структурирование и «упаковка» информации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 знание трех иностранных языков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умение работать в «цифровой вселенной» (БД, корпуса, ИИ)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прикладные профессиональные навыки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ru-RU" sz="1600" dirty="0"/>
          </a:p>
          <a:p>
            <a:pPr>
              <a:lnSpc>
                <a:spcPct val="80000"/>
              </a:lnSpc>
            </a:pPr>
            <a:endParaRPr lang="ru-RU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43" y="1377315"/>
            <a:ext cx="1419607" cy="1079233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827" y="1377315"/>
            <a:ext cx="1232346" cy="1025482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69" y="1275595"/>
            <a:ext cx="1331109" cy="133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8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89210" y="0"/>
            <a:ext cx="6877216" cy="9322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Учёба филолога в нижегородской – это: 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62736" y="1956011"/>
            <a:ext cx="5408295" cy="1665013"/>
          </a:xfrm>
          <a:prstGeom prst="roundRect">
            <a:avLst/>
          </a:prstGeom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постоянная вовлеченность в проектную деятельность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активная научная деятельность; конференции и публикации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 современными формами гуманитарного знания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62735" y="4745736"/>
            <a:ext cx="5408295" cy="1671572"/>
          </a:xfrm>
          <a:prstGeom prst="roundRect">
            <a:avLst/>
          </a:prstGeom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академическая мобильность (возможность учиться в московском и петербургском кампусах)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межвузовские научные семинары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участие в международных конференциях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33" y="3777031"/>
            <a:ext cx="812698" cy="81269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33" y="1010289"/>
            <a:ext cx="766732" cy="766732"/>
          </a:xfrm>
          <a:prstGeom prst="rect">
            <a:avLst/>
          </a:prstGeom>
        </p:spPr>
      </p:pic>
      <p:sp>
        <p:nvSpPr>
          <p:cNvPr id="12" name="Скругленный прямоугольник 11"/>
          <p:cNvSpPr/>
          <p:nvPr/>
        </p:nvSpPr>
        <p:spPr>
          <a:xfrm>
            <a:off x="7150609" y="560484"/>
            <a:ext cx="4383962" cy="274774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/>
              <a:t>фото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150609" y="3665459"/>
            <a:ext cx="4383962" cy="2751849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/>
              <a:t>фото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5344772" y="835567"/>
            <a:ext cx="1912636" cy="1359504"/>
          </a:xfrm>
          <a:prstGeom prst="rect">
            <a:avLst/>
          </a:prstGeom>
        </p:spPr>
      </p:pic>
      <p:pic>
        <p:nvPicPr>
          <p:cNvPr id="3" name="Рисунок 2" descr="Изображение выглядит как одежда, человек, женщина, начало&#10;&#10;Автоматически созданное описание">
            <a:extLst>
              <a:ext uri="{FF2B5EF4-FFF2-40B4-BE49-F238E27FC236}">
                <a16:creationId xmlns:a16="http://schemas.microsoft.com/office/drawing/2014/main" id="{2BF5ADE6-0E48-7CD6-949F-667B599ADC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609" y="401368"/>
            <a:ext cx="4383962" cy="292408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31114"/>
          <a:stretch/>
        </p:blipFill>
        <p:spPr>
          <a:xfrm>
            <a:off x="10762436" y="2544636"/>
            <a:ext cx="1912636" cy="1312551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6" name="Picture 2" descr="Иллюстрация к новости: «Чапаев и Пустота»: «слепок эпохи» или набор штампов">
            <a:extLst>
              <a:ext uri="{FF2B5EF4-FFF2-40B4-BE49-F238E27FC236}">
                <a16:creationId xmlns:a16="http://schemas.microsoft.com/office/drawing/2014/main" id="{19BEBB03-CA6C-DD3E-B2A2-E384FA0B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426" y="3657088"/>
            <a:ext cx="4571363" cy="304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6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09956" y="280453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2400" b="1" dirty="0">
                <a:solidFill>
                  <a:srgbClr val="102D69"/>
                </a:solidFill>
                <a:latin typeface="HSE Sans" panose="02000000000000000000" pitchFamily="50" charset="0"/>
              </a:rPr>
              <a:t>Структура бакалавриата ОП «Филология» в Нижнем Новгороде</a:t>
            </a:r>
            <a:endParaRPr lang="ru-RU" sz="18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28651" y="938821"/>
            <a:ext cx="10976610" cy="533019"/>
          </a:xfrm>
          <a:prstGeom prst="round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1 курс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8652" y="1597189"/>
            <a:ext cx="2822064" cy="533019"/>
          </a:xfrm>
          <a:prstGeom prst="roundRect">
            <a:avLst/>
          </a:prstGeom>
          <a:solidFill>
            <a:srgbClr val="768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1 модуль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995791" y="1597189"/>
            <a:ext cx="2609469" cy="533019"/>
          </a:xfrm>
          <a:prstGeom prst="roundRect">
            <a:avLst/>
          </a:prstGeom>
          <a:solidFill>
            <a:srgbClr val="768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4</a:t>
            </a:r>
            <a:r>
              <a:rPr lang="ru-RU" dirty="0">
                <a:latin typeface="HSE Sans" panose="02000000000000000000" pitchFamily="50" charset="0"/>
              </a:rPr>
              <a:t> </a:t>
            </a:r>
            <a:r>
              <a:rPr lang="ru-RU" b="1" dirty="0"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533775" y="1597189"/>
            <a:ext cx="2647949" cy="533019"/>
          </a:xfrm>
          <a:prstGeom prst="roundRect">
            <a:avLst/>
          </a:prstGeom>
          <a:solidFill>
            <a:srgbClr val="768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2 модуль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57736" y="1597189"/>
            <a:ext cx="2609468" cy="533019"/>
          </a:xfrm>
          <a:prstGeom prst="roundRect">
            <a:avLst/>
          </a:prstGeom>
          <a:solidFill>
            <a:srgbClr val="768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3</a:t>
            </a:r>
            <a:r>
              <a:rPr lang="ru-RU" dirty="0">
                <a:latin typeface="HSE Sans" panose="02000000000000000000" pitchFamily="50" charset="0"/>
              </a:rPr>
              <a:t> </a:t>
            </a:r>
            <a:r>
              <a:rPr lang="ru-RU" b="1" dirty="0"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8651" y="2255557"/>
            <a:ext cx="2822065" cy="4164293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Латинский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История России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Цифровая грамотность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Ключевые тексты русской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Старославянский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Введение в языкознание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533775" y="2255557"/>
            <a:ext cx="2647949" cy="4223439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Латинский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История России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Цифровая грамотность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Ключевые тексты русской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Старославянский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Введение в языкознание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264783" y="2255557"/>
            <a:ext cx="2647949" cy="4223439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latin typeface="HSE Sans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Ключевые тексты русской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Антропология и фольклор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Теория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Античная литература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История русского языка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НИС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995791" y="2255557"/>
            <a:ext cx="2647949" cy="4223439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latin typeface="HSE Sans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latin typeface="HSE Sans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Академическое письмо на русском языке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Антропология и фольклор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Теория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Античная литература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История русского языка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НИС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b="1" dirty="0">
              <a:latin typeface="HSE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12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628651" y="134912"/>
            <a:ext cx="10976610" cy="53302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2 курс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8651" y="809470"/>
            <a:ext cx="2647949" cy="5330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1 модуль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995791" y="809469"/>
            <a:ext cx="2609469" cy="533019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4</a:t>
            </a:r>
            <a:r>
              <a:rPr lang="ru-RU" dirty="0">
                <a:solidFill>
                  <a:srgbClr val="2C4878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533775" y="809471"/>
            <a:ext cx="2473833" cy="533019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2 модуль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64783" y="809469"/>
            <a:ext cx="2473833" cy="533019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3</a:t>
            </a:r>
            <a:r>
              <a:rPr lang="ru-RU" dirty="0">
                <a:solidFill>
                  <a:srgbClr val="2C4878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2C4878"/>
                </a:solidFill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73697" y="1484028"/>
            <a:ext cx="2802903" cy="4994968"/>
          </a:xfrm>
          <a:prstGeom prst="roundRect">
            <a:avLst>
              <a:gd name="adj" fmla="val 28880"/>
            </a:avLst>
          </a:prstGeom>
          <a:solidFill>
            <a:srgbClr val="761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Немецкий/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Европейская литература Средних веков и возрождения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Древнерусская литература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Программирование на </a:t>
            </a:r>
            <a:r>
              <a:rPr lang="en-US" b="1" dirty="0">
                <a:solidFill>
                  <a:schemeClr val="bg1"/>
                </a:solidFill>
                <a:latin typeface="HSE Sans" panose="02000000000000000000" pitchFamily="50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по выбору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Правовая грамотность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НИС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378820" y="1543174"/>
            <a:ext cx="2802904" cy="4935822"/>
          </a:xfrm>
          <a:prstGeom prst="roundRect">
            <a:avLst/>
          </a:prstGeom>
          <a:solidFill>
            <a:srgbClr val="761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Немецкий/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Европейская литература Средних веков и возрождения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Древнерусская литература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Программирование на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по выбору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Правовая грамотность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НИС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264783" y="1484025"/>
            <a:ext cx="2647949" cy="4994971"/>
          </a:xfrm>
          <a:prstGeom prst="roundRect">
            <a:avLst/>
          </a:prstGeom>
          <a:solidFill>
            <a:srgbClr val="761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Немецкий/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Европейская литература </a:t>
            </a:r>
            <a:r>
              <a:rPr lang="en-US" b="1" dirty="0">
                <a:solidFill>
                  <a:srgbClr val="FFFFFF"/>
                </a:solidFill>
              </a:rPr>
              <a:t>XVII-XVIII </a:t>
            </a:r>
            <a:r>
              <a:rPr lang="ru-RU" b="1" dirty="0">
                <a:solidFill>
                  <a:srgbClr val="FFFFFF"/>
                </a:solidFill>
              </a:rPr>
              <a:t>веков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Русская литература </a:t>
            </a:r>
            <a:r>
              <a:rPr lang="en-US" b="1" dirty="0">
                <a:solidFill>
                  <a:srgbClr val="FFFFFF"/>
                </a:solidFill>
              </a:rPr>
              <a:t>XVIII</a:t>
            </a:r>
            <a:r>
              <a:rPr lang="ru-RU" b="1" dirty="0">
                <a:solidFill>
                  <a:srgbClr val="FFFFFF"/>
                </a:solidFill>
              </a:rPr>
              <a:t>- начала </a:t>
            </a:r>
            <a:r>
              <a:rPr lang="en-US" b="1" dirty="0">
                <a:solidFill>
                  <a:srgbClr val="FFFFFF"/>
                </a:solidFill>
              </a:rPr>
              <a:t>XIX</a:t>
            </a:r>
            <a:r>
              <a:rPr lang="ru-RU" b="1" dirty="0">
                <a:solidFill>
                  <a:srgbClr val="FFFFFF"/>
                </a:solidFill>
              </a:rPr>
              <a:t> 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Minor </a:t>
            </a:r>
            <a:r>
              <a:rPr lang="ru-RU" b="1" dirty="0">
                <a:solidFill>
                  <a:srgbClr val="FFFFFF"/>
                </a:solidFill>
              </a:rPr>
              <a:t>по выбору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История мировой культуры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Современный русский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НИС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995791" y="1484025"/>
            <a:ext cx="2647949" cy="4994971"/>
          </a:xfrm>
          <a:prstGeom prst="roundRect">
            <a:avLst/>
          </a:prstGeom>
          <a:solidFill>
            <a:srgbClr val="761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Немецкий/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Европейская литература </a:t>
            </a:r>
            <a:r>
              <a:rPr lang="en-US" b="1" dirty="0">
                <a:solidFill>
                  <a:srgbClr val="FFFFFF"/>
                </a:solidFill>
              </a:rPr>
              <a:t>XVII-XVIII </a:t>
            </a:r>
            <a:r>
              <a:rPr lang="ru-RU" b="1" dirty="0">
                <a:solidFill>
                  <a:srgbClr val="FFFFFF"/>
                </a:solidFill>
              </a:rPr>
              <a:t>веков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Русская литература </a:t>
            </a:r>
            <a:r>
              <a:rPr lang="en-US" b="1" dirty="0">
                <a:solidFill>
                  <a:srgbClr val="FFFFFF"/>
                </a:solidFill>
              </a:rPr>
              <a:t>XVIII</a:t>
            </a:r>
            <a:r>
              <a:rPr lang="ru-RU" b="1" dirty="0">
                <a:solidFill>
                  <a:srgbClr val="FFFFFF"/>
                </a:solidFill>
              </a:rPr>
              <a:t>- начала </a:t>
            </a:r>
            <a:r>
              <a:rPr lang="en-US" b="1" dirty="0">
                <a:solidFill>
                  <a:srgbClr val="FFFFFF"/>
                </a:solidFill>
              </a:rPr>
              <a:t>XIX</a:t>
            </a:r>
            <a:r>
              <a:rPr lang="ru-RU" b="1" dirty="0">
                <a:solidFill>
                  <a:srgbClr val="FFFFFF"/>
                </a:solidFill>
              </a:rPr>
              <a:t> 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Minor </a:t>
            </a:r>
            <a:r>
              <a:rPr lang="ru-RU" b="1" dirty="0">
                <a:solidFill>
                  <a:srgbClr val="FFFFFF"/>
                </a:solidFill>
              </a:rPr>
              <a:t>по выбору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История мировой культуры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</a:rPr>
              <a:t>Современный русский язык</a:t>
            </a:r>
          </a:p>
        </p:txBody>
      </p:sp>
    </p:spTree>
    <p:extLst>
      <p:ext uri="{BB962C8B-B14F-4D97-AF65-F5344CB8AC3E}">
        <p14:creationId xmlns:p14="http://schemas.microsoft.com/office/powerpoint/2010/main" val="53030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628651" y="149903"/>
            <a:ext cx="10976610" cy="632106"/>
          </a:xfrm>
          <a:prstGeom prst="roundRect">
            <a:avLst/>
          </a:prstGeom>
          <a:solidFill>
            <a:srgbClr val="232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3 курс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8651" y="899411"/>
            <a:ext cx="2647949" cy="63210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1 модуль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953880" y="899412"/>
            <a:ext cx="2609469" cy="632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4</a:t>
            </a:r>
            <a:r>
              <a:rPr lang="ru-RU" dirty="0">
                <a:solidFill>
                  <a:srgbClr val="FFFFFF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533775" y="899412"/>
            <a:ext cx="2473833" cy="63210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2 модуль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64783" y="899411"/>
            <a:ext cx="2473833" cy="63210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3</a:t>
            </a:r>
            <a:r>
              <a:rPr lang="ru-RU" dirty="0">
                <a:solidFill>
                  <a:srgbClr val="FFFFFF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8651" y="1648919"/>
            <a:ext cx="2647949" cy="4770931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Ключевые тексты англоязычных литератур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литератур Европы и США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русской литературы середины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Экономика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по выбору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b="1" dirty="0">
              <a:latin typeface="HSE Sans" panose="02000000000000000000" pitchFamily="50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440048" y="1708065"/>
            <a:ext cx="2655951" cy="4770931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Ключевые тексты англоязычных литератур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литератур Европы и США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русской литературы середины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Экономика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по выбору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184394" y="1708065"/>
            <a:ext cx="2647949" cy="4770931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Анализ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литератур Европы и США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русской литературы середины конца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 - начала ХХ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Компаративистика и метакомпаративистика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по выбору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995791" y="1708065"/>
            <a:ext cx="2647949" cy="4770931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Немецкий / Французский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Анализ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литератур Европы и США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История русской литературы середины конца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XIX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 - начала ХХ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Теория и практика межкультурной коммуникации </a:t>
            </a:r>
            <a:r>
              <a:rPr lang="en-US" b="1" dirty="0">
                <a:solidFill>
                  <a:srgbClr val="FFFFFF"/>
                </a:solidFill>
                <a:latin typeface="HSE Sans" panose="02000000000000000000" pitchFamily="50" charset="0"/>
              </a:rPr>
              <a:t>Minor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по выбору</a:t>
            </a:r>
          </a:p>
        </p:txBody>
      </p:sp>
    </p:spTree>
    <p:extLst>
      <p:ext uri="{BB962C8B-B14F-4D97-AF65-F5344CB8AC3E}">
        <p14:creationId xmlns:p14="http://schemas.microsoft.com/office/powerpoint/2010/main" val="221950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628651" y="104932"/>
            <a:ext cx="10976610" cy="617932"/>
          </a:xfrm>
          <a:prstGeom prst="round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4 курс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8651" y="899411"/>
            <a:ext cx="2647949" cy="61793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1 модуль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995791" y="899409"/>
            <a:ext cx="2609469" cy="61793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4</a:t>
            </a:r>
            <a:r>
              <a:rPr lang="ru-RU" dirty="0">
                <a:solidFill>
                  <a:srgbClr val="FFFFFF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533775" y="899409"/>
            <a:ext cx="2473833" cy="61793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2 модуль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64783" y="899409"/>
            <a:ext cx="2473833" cy="61793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3</a:t>
            </a:r>
            <a:r>
              <a:rPr lang="ru-RU" dirty="0">
                <a:latin typeface="HSE Sans" panose="02000000000000000000" pitchFamily="50" charset="0"/>
              </a:rPr>
              <a:t> </a:t>
            </a:r>
            <a:r>
              <a:rPr lang="ru-RU" b="1" dirty="0">
                <a:latin typeface="HSE Sans" panose="02000000000000000000" pitchFamily="50" charset="0"/>
              </a:rPr>
              <a:t>модуль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8651" y="1693890"/>
            <a:ext cx="2647949" cy="5111644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Третий иностранный язык</a:t>
            </a:r>
          </a:p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Ключевые тексты немецкой / французской литературы</a:t>
            </a:r>
          </a:p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русской литературы ХХ века</a:t>
            </a:r>
          </a:p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литератур Европы и США ХХ века</a:t>
            </a:r>
          </a:p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Русский язык как иностранный/ Теория и практика художественного перевода</a:t>
            </a:r>
          </a:p>
          <a:p>
            <a:pPr marL="285750" indent="-720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Введение в киноанализ / Современные образовательные практики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sz="1500" dirty="0">
              <a:solidFill>
                <a:srgbClr val="102D69"/>
              </a:solidFill>
              <a:latin typeface="HSE Sans" panose="02000000000000000000" pitchFamily="50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359661" y="1753036"/>
            <a:ext cx="2647948" cy="5052498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Третий иностранный язык</a:t>
            </a:r>
          </a:p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Ключевые тексты литературы второго языка</a:t>
            </a:r>
          </a:p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русской литературы ХХ века</a:t>
            </a:r>
          </a:p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литератур Европы и США ХХ века</a:t>
            </a:r>
          </a:p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Русский язык как иностранный/ Теория и практика художественного перевода</a:t>
            </a:r>
          </a:p>
          <a:p>
            <a:pPr marL="285750" indent="-285750" algn="justLow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Введение в киноанализ / Современные образовательные практики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090669" y="1753036"/>
            <a:ext cx="2753528" cy="4666814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t" anchorCtr="0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Третий иностранный язык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Академическое письмо на втором иностранном языке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русской литературы ХХ века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История литератур Европы и США ХХ века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Новейшая русская литература / Цифровая текстология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Итоговый проект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995791" y="1753036"/>
            <a:ext cx="2647949" cy="472596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Подготовка и защита выпускной квалификационной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423887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98348" y="30646"/>
            <a:ext cx="11195304" cy="5389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2800" dirty="0">
                <a:solidFill>
                  <a:srgbClr val="102D69"/>
                </a:solidFill>
                <a:latin typeface="HSE Sans" panose="02000000000000000000" pitchFamily="50" charset="0"/>
              </a:rPr>
              <a:t>Иностранные языки на программе</a:t>
            </a:r>
          </a:p>
        </p:txBody>
      </p:sp>
      <p:sp>
        <p:nvSpPr>
          <p:cNvPr id="4" name="Кольцо 3"/>
          <p:cNvSpPr/>
          <p:nvPr/>
        </p:nvSpPr>
        <p:spPr>
          <a:xfrm>
            <a:off x="10152373" y="-1228479"/>
            <a:ext cx="3314453" cy="3314453"/>
          </a:xfrm>
          <a:prstGeom prst="donu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Кольцо 4"/>
          <p:cNvSpPr/>
          <p:nvPr/>
        </p:nvSpPr>
        <p:spPr>
          <a:xfrm>
            <a:off x="-1274826" y="4795514"/>
            <a:ext cx="3314453" cy="3314453"/>
          </a:xfrm>
          <a:prstGeom prst="donu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98348" y="569626"/>
            <a:ext cx="9817227" cy="538980"/>
          </a:xfrm>
          <a:prstGeom prst="round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HSE Sans" panose="02000000000000000000" pitchFamily="50" charset="0"/>
              </a:rPr>
              <a:t>Древние языки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98348" y="1188316"/>
            <a:ext cx="4692777" cy="538980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Старославянский язык (1-2 модули 1 курса)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518024" y="1188316"/>
            <a:ext cx="4797552" cy="538980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HSE Sans" panose="02000000000000000000" pitchFamily="50" charset="0"/>
              </a:rPr>
              <a:t>Латинский язык (1-2 модули 1 курса)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684746" y="1849750"/>
            <a:ext cx="9817227" cy="551664"/>
          </a:xfrm>
          <a:prstGeom prst="round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HSE Sans" panose="02000000000000000000" pitchFamily="50" charset="0"/>
              </a:rPr>
              <a:t>Современные европейские языки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684747" y="2523868"/>
            <a:ext cx="4884456" cy="618690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Английский язык (1-2 курс) С1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000875" y="2523867"/>
            <a:ext cx="4884456" cy="618691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Второй иностранный язык: Немецкий / Французский (1-3 курсы) В2</a:t>
            </a:r>
            <a:endParaRPr lang="ru-RU" dirty="0">
              <a:latin typeface="HSE Sans" panose="02000000000000000000" pitchFamily="50" charset="0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592796C-F506-AC8A-A4AE-80F5BF419BBA}"/>
              </a:ext>
            </a:extLst>
          </p:cNvPr>
          <p:cNvSpPr/>
          <p:nvPr/>
        </p:nvSpPr>
        <p:spPr>
          <a:xfrm>
            <a:off x="1684746" y="3265012"/>
            <a:ext cx="4884457" cy="3257798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Дисциплины на английском языке: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История литературы </a:t>
            </a:r>
            <a:r>
              <a:rPr lang="en-US" b="1" dirty="0">
                <a:latin typeface="HSE Sans" panose="02000000000000000000" pitchFamily="50" charset="0"/>
              </a:rPr>
              <a:t>XVII-XVIII </a:t>
            </a:r>
            <a:r>
              <a:rPr lang="ru-RU" b="1" dirty="0">
                <a:latin typeface="HSE Sans" panose="02000000000000000000" pitchFamily="50" charset="0"/>
              </a:rPr>
              <a:t>веков (2 курс)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Теория и практика межкультурной коммуникации (3 курс)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Русский как иностранный / Теория и практика художественного перевода (4 курс)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Академическое письмо (4 курс)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Защита </a:t>
            </a:r>
            <a:r>
              <a:rPr lang="en-US" b="1" dirty="0">
                <a:latin typeface="HSE Sans" panose="02000000000000000000" pitchFamily="50" charset="0"/>
              </a:rPr>
              <a:t>Project Proposal (4 </a:t>
            </a:r>
            <a:r>
              <a:rPr lang="ru-RU" b="1" dirty="0">
                <a:latin typeface="HSE Sans" panose="02000000000000000000" pitchFamily="50" charset="0"/>
              </a:rPr>
              <a:t>курс)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b="1" dirty="0">
              <a:latin typeface="HSE Sans" panose="02000000000000000000" pitchFamily="50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b="1" dirty="0">
              <a:latin typeface="HSE Sans" panose="02000000000000000000" pitchFamily="50" charset="0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1AE041D-80D5-8C57-BF96-4FFC2B9B5C14}"/>
              </a:ext>
            </a:extLst>
          </p:cNvPr>
          <p:cNvSpPr/>
          <p:nvPr/>
        </p:nvSpPr>
        <p:spPr>
          <a:xfrm>
            <a:off x="7000874" y="3265011"/>
            <a:ext cx="4884455" cy="1530503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Дисциплины на втором языке: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Ключевые тексты немецкоязычных / франкоязычных литератур (4 курс)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b="1" dirty="0">
                <a:latin typeface="HSE Sans" panose="02000000000000000000" pitchFamily="50" charset="0"/>
              </a:rPr>
              <a:t>Академическое письмо на немецком / французском языке (4 курс)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5340FAEE-DB86-8B1C-3130-2C9460A2DA1E}"/>
              </a:ext>
            </a:extLst>
          </p:cNvPr>
          <p:cNvSpPr/>
          <p:nvPr/>
        </p:nvSpPr>
        <p:spPr>
          <a:xfrm>
            <a:off x="7000873" y="4917966"/>
            <a:ext cx="4884455" cy="1604844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HSE Sans" panose="02000000000000000000" pitchFamily="50" charset="0"/>
              </a:rPr>
              <a:t>Третий иностранный язык: Чешский / Польский / Испанский / Итальянский (4 курс) А2</a:t>
            </a:r>
          </a:p>
        </p:txBody>
      </p:sp>
    </p:spTree>
    <p:extLst>
      <p:ext uri="{BB962C8B-B14F-4D97-AF65-F5344CB8AC3E}">
        <p14:creationId xmlns:p14="http://schemas.microsoft.com/office/powerpoint/2010/main" val="295867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98348" y="0"/>
            <a:ext cx="11195304" cy="6583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Проекты и практики на программе «Филология»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07698" y="658368"/>
            <a:ext cx="5216577" cy="59822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С 2026 года все практики полностью переходят в проектный формат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На каждом курсе студенты участвуют во внутреннем (1 курс) или внешнем (2-4 курсы) проектах с партнерами программы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Проектная деятельность предполагает выполнение конкретных заданий: создание и наполнение сайта, подготовка и проведение конференции, создание музейной экспозиции, подготовку образовательного онлайн-курса и т.д.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В начале каждого курса студент выбирает для себя проект, в котором работает в течение года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По итогам выполнения проекта студент может быть приглашен на работу в партнерскую организацию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Список партнеров-работодателей на сайте: </a:t>
            </a:r>
            <a:r>
              <a:rPr lang="en" dirty="0">
                <a:solidFill>
                  <a:srgbClr val="002060"/>
                </a:solidFill>
                <a:hlinkClick r:id="rId2"/>
              </a:rPr>
              <a:t>https://nnov.hse.ru/ba/philology/partners</a:t>
            </a:r>
            <a:endParaRPr lang="ru-RU" dirty="0"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dirty="0"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76ACD9-AAF5-DEC0-6DAE-D474E3E14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6" y="658366"/>
            <a:ext cx="1556891" cy="112546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735C03-E968-2820-765D-D109C4D82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87" y="1069378"/>
            <a:ext cx="2016083" cy="90834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9D92BA8-2407-7478-C7A7-1D86F9F22C8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9252645" y="740615"/>
            <a:ext cx="1912636" cy="135950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8AB364-BD37-D324-3B77-ACEF16EAB0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141187" y="5498496"/>
            <a:ext cx="1912636" cy="135950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A59583-0E6D-48A4-9CB6-1CFEBC588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23" y="1828884"/>
            <a:ext cx="1206225" cy="9649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A5AD512-75D4-D41F-9E57-6F757B855E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6" y="2844505"/>
            <a:ext cx="1211127" cy="90834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10857BE-34D2-4B03-4E81-5C14214A12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7717" y="2882036"/>
            <a:ext cx="1206224" cy="96192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2212203-F404-7A94-C457-0C08720D48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36" y="4064137"/>
            <a:ext cx="1694695" cy="11224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CE47CDC-E74D-EA24-101E-0FDFC87D4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1718" y="5114234"/>
            <a:ext cx="1451723" cy="125376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9C8E6B0-A6F6-7B5E-437B-7EEDD01BA5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2948" y="2335889"/>
            <a:ext cx="2512642" cy="9627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56441E1-CECF-76A5-ED21-3D0076EFDD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0537" y="3630767"/>
            <a:ext cx="1950876" cy="134543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974037D-BC8C-26EA-FD54-15ED95F3FE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5249" y="1954222"/>
            <a:ext cx="1270000" cy="7239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3483248-FB1F-ACAD-E665-74908A187B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23931" y="3362998"/>
            <a:ext cx="1282700" cy="660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F820F13-911D-0FC2-34CD-B533173294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7932" y="5410914"/>
            <a:ext cx="901700" cy="8255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6ED38EF-C7C5-AE6F-84DF-91C65EB76F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0189" y="4495056"/>
            <a:ext cx="1348808" cy="915857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5509446-0802-DDF9-79AD-874095E1741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23993" y="152032"/>
            <a:ext cx="939800" cy="8001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90098ED-E094-4C8C-7540-F005E365378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2476233" y="4123497"/>
            <a:ext cx="795416" cy="7112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2C03989-17DF-79B0-73A6-87FB2DDF4CC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30282" y="5754133"/>
            <a:ext cx="1167068" cy="72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57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/>
          <p:cNvGrpSpPr/>
          <p:nvPr/>
        </p:nvGrpSpPr>
        <p:grpSpPr>
          <a:xfrm>
            <a:off x="4600575" y="-9243"/>
            <a:ext cx="7591424" cy="3159714"/>
            <a:chOff x="0" y="5105400"/>
            <a:chExt cx="8420100" cy="3471862"/>
          </a:xfrm>
          <a:scene3d>
            <a:camera prst="orthographicFront">
              <a:rot lat="10800000" lon="10800000" rev="0"/>
            </a:camera>
            <a:lightRig rig="threePt" dir="t"/>
          </a:scene3d>
        </p:grpSpPr>
        <p:sp>
          <p:nvSpPr>
            <p:cNvPr id="14" name="Арка 13"/>
            <p:cNvSpPr/>
            <p:nvPr/>
          </p:nvSpPr>
          <p:spPr>
            <a:xfrm>
              <a:off x="6115050" y="5895975"/>
              <a:ext cx="2305050" cy="1977028"/>
            </a:xfrm>
            <a:prstGeom prst="blockArc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5" name="Арка 14"/>
            <p:cNvSpPr/>
            <p:nvPr/>
          </p:nvSpPr>
          <p:spPr>
            <a:xfrm>
              <a:off x="3476625" y="5524500"/>
              <a:ext cx="3210784" cy="2664618"/>
            </a:xfrm>
            <a:prstGeom prst="blockArc">
              <a:avLst>
                <a:gd name="adj1" fmla="val 10880048"/>
                <a:gd name="adj2" fmla="val 0"/>
                <a:gd name="adj3" fmla="val 2500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6" name="Арка 15"/>
            <p:cNvSpPr/>
            <p:nvPr/>
          </p:nvSpPr>
          <p:spPr>
            <a:xfrm>
              <a:off x="0" y="5105400"/>
              <a:ext cx="4152900" cy="3471862"/>
            </a:xfrm>
            <a:prstGeom prst="blockArc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0" y="5105400"/>
            <a:ext cx="8267700" cy="3471862"/>
            <a:chOff x="0" y="5105400"/>
            <a:chExt cx="8420100" cy="3471862"/>
          </a:xfrm>
        </p:grpSpPr>
        <p:sp>
          <p:nvSpPr>
            <p:cNvPr id="9" name="Арка 8"/>
            <p:cNvSpPr/>
            <p:nvPr/>
          </p:nvSpPr>
          <p:spPr>
            <a:xfrm>
              <a:off x="6115050" y="5895975"/>
              <a:ext cx="2305050" cy="1977028"/>
            </a:xfrm>
            <a:prstGeom prst="blockArc">
              <a:avLst/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" name="Арка 9"/>
            <p:cNvSpPr/>
            <p:nvPr/>
          </p:nvSpPr>
          <p:spPr>
            <a:xfrm>
              <a:off x="3476625" y="5524500"/>
              <a:ext cx="3210784" cy="2664618"/>
            </a:xfrm>
            <a:prstGeom prst="blockArc">
              <a:avLst>
                <a:gd name="adj1" fmla="val 10880048"/>
                <a:gd name="adj2" fmla="val 0"/>
                <a:gd name="adj3" fmla="val 25000"/>
              </a:avLst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" name="Арка 7"/>
            <p:cNvSpPr/>
            <p:nvPr/>
          </p:nvSpPr>
          <p:spPr>
            <a:xfrm>
              <a:off x="0" y="5105400"/>
              <a:ext cx="4152900" cy="3471862"/>
            </a:xfrm>
            <a:prstGeom prst="blockArc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98348" y="56063"/>
            <a:ext cx="10309560" cy="4133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2800" b="1" dirty="0">
                <a:solidFill>
                  <a:srgbClr val="102D69"/>
                </a:solidFill>
                <a:latin typeface="HSE Sans" panose="02000000000000000000" pitchFamily="50" charset="0"/>
              </a:rPr>
              <a:t>Проектная деятельность</a:t>
            </a:r>
            <a:endParaRPr lang="ru-RU" sz="20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24452" y="578698"/>
            <a:ext cx="3425952" cy="4557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102D69"/>
                </a:solidFill>
              </a:rPr>
              <a:t>Итоговые проекты 2026</a:t>
            </a:r>
            <a:r>
              <a:rPr lang="ru-RU" b="1" dirty="0">
                <a:solidFill>
                  <a:srgbClr val="102D69"/>
                </a:solidFill>
              </a:rPr>
              <a:t> года: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Просветительский сайт и </a:t>
            </a:r>
            <a:r>
              <a:rPr lang="ru-RU" dirty="0" err="1">
                <a:solidFill>
                  <a:srgbClr val="102D69"/>
                </a:solidFill>
              </a:rPr>
              <a:t>тг</a:t>
            </a:r>
            <a:r>
              <a:rPr lang="ru-RU" dirty="0">
                <a:solidFill>
                  <a:srgbClr val="102D69"/>
                </a:solidFill>
              </a:rPr>
              <a:t>-канал «Лестница»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Сайт устной истории «Звучащие девяностые»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Музейная экспозиция «Особняк Кутайсовой»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Сборник переводов Уильяма Морриса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Оцифровка архива Вознесенского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Цифровой комментарий к повестям М.А. Булгакова</a:t>
            </a:r>
          </a:p>
          <a:p>
            <a:pPr algn="just"/>
            <a:endParaRPr lang="ru-RU" dirty="0">
              <a:solidFill>
                <a:srgbClr val="102D69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422647" y="2495908"/>
            <a:ext cx="3346705" cy="283765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30638" y="3585408"/>
            <a:ext cx="3425952" cy="283765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1026" name="Picture 2" descr="Иллюстрация к новости: Первые ростки: стихи Уильяма Морриса на русском языке">
            <a:extLst>
              <a:ext uri="{FF2B5EF4-FFF2-40B4-BE49-F238E27FC236}">
                <a16:creationId xmlns:a16="http://schemas.microsoft.com/office/drawing/2014/main" id="{FB95CDA6-8C32-D77D-7975-DB29B4A28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68" y="2978290"/>
            <a:ext cx="3095437" cy="206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C6F2A3DC-A946-BE6B-DFDB-9A02D9AC2122}"/>
              </a:ext>
            </a:extLst>
          </p:cNvPr>
          <p:cNvSpPr/>
          <p:nvPr/>
        </p:nvSpPr>
        <p:spPr>
          <a:xfrm>
            <a:off x="11320101" y="4633286"/>
            <a:ext cx="764019" cy="69256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1558355D-E979-BF7C-4260-A38956CCD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700" y="4032354"/>
            <a:ext cx="3143856" cy="209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09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Прямая соединительная линия 20"/>
          <p:cNvCxnSpPr/>
          <p:nvPr/>
        </p:nvCxnSpPr>
        <p:spPr>
          <a:xfrm>
            <a:off x="498348" y="3303225"/>
            <a:ext cx="11103483" cy="0"/>
          </a:xfrm>
          <a:prstGeom prst="line">
            <a:avLst/>
          </a:prstGeom>
          <a:ln w="38100">
            <a:solidFill>
              <a:srgbClr val="4A5BB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 txBox="1">
            <a:spLocks/>
          </p:cNvSpPr>
          <p:nvPr/>
        </p:nvSpPr>
        <p:spPr>
          <a:xfrm>
            <a:off x="498348" y="252088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3200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Майноры</a:t>
            </a: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 НИУ ВШЭ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45783" y="1162544"/>
            <a:ext cx="4759832" cy="120015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Майноры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 позволяют нашим студентам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выйти за пределы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 направления профессиональной подготовки и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освоить смежные специальности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.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5353049" y="1761660"/>
            <a:ext cx="1485900" cy="0"/>
          </a:xfrm>
          <a:prstGeom prst="straightConnector1">
            <a:avLst/>
          </a:prstGeom>
          <a:ln w="38100">
            <a:solidFill>
              <a:srgbClr val="4472C4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Скругленный прямоугольник 10"/>
          <p:cNvSpPr/>
          <p:nvPr/>
        </p:nvSpPr>
        <p:spPr>
          <a:xfrm>
            <a:off x="6933820" y="1161585"/>
            <a:ext cx="4759832" cy="120015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Студенты выбирают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из нескольких десятков </a:t>
            </a:r>
            <a:r>
              <a:rPr lang="ru-RU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майноров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, список которых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обновляется ежегодно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.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98348" y="4191000"/>
            <a:ext cx="3530727" cy="220980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Четыре дисциплины, 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входящие в </a:t>
            </a:r>
            <a:r>
              <a:rPr lang="ru-RU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, изучаются в течение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двух лет (2 и 3 курс), 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для них выделен один день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.</a:t>
            </a:r>
            <a:endParaRPr lang="ru-RU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344924" y="4191000"/>
            <a:ext cx="3530727" cy="220980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Все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 </a:t>
            </a:r>
            <a:r>
              <a:rPr lang="ru-RU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майноры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 имеют прикладной характер и 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обеспечивают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дополнительную квалификацию 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в соответствии с нормативами Министерства труда и социальной защиты.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8162925" y="4191000"/>
            <a:ext cx="3530727" cy="220980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Студенты, освоившие </a:t>
            </a:r>
            <a:r>
              <a:rPr lang="ru-RU" dirty="0" err="1">
                <a:solidFill>
                  <a:srgbClr val="102D69"/>
                </a:solidFill>
                <a:latin typeface="HSE Sans" panose="02000000000000000000" pitchFamily="50" charset="0"/>
              </a:rPr>
              <a:t>майнор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, получают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 сертификат </a:t>
            </a:r>
            <a:r>
              <a:rPr lang="en-US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MicroDegree</a:t>
            </a:r>
            <a:r>
              <a:rPr lang="en-US" b="1" dirty="0">
                <a:solidFill>
                  <a:srgbClr val="102D69"/>
                </a:solidFill>
                <a:latin typeface="HSE Sans" panose="02000000000000000000" pitchFamily="50" charset="0"/>
              </a:rPr>
              <a:t> 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 диплом и профессиональной переподготовке 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50" charset="0"/>
              </a:rPr>
              <a:t>дополнительно к диплому о высшем образовании.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07" y="2744221"/>
            <a:ext cx="1419607" cy="1079233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912" y="2712675"/>
            <a:ext cx="1400175" cy="118110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288" y="2641237"/>
            <a:ext cx="15240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2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803751" y="667015"/>
            <a:ext cx="3907650" cy="1835882"/>
          </a:xfrm>
          <a:prstGeom prst="round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</a:pPr>
            <a:r>
              <a:rPr lang="ru-RU" sz="2800" b="1" dirty="0">
                <a:solidFill>
                  <a:schemeClr val="bg1"/>
                </a:solidFill>
                <a:latin typeface="HSE Sans" panose="02000000000000000000" pitchFamily="50" charset="0"/>
              </a:rPr>
              <a:t>Цифровой блок (</a:t>
            </a:r>
            <a:r>
              <a:rPr lang="en-US" sz="2800" b="1" dirty="0">
                <a:solidFill>
                  <a:schemeClr val="bg1"/>
                </a:solidFill>
                <a:latin typeface="HSE Sans" panose="02000000000000000000" pitchFamily="50" charset="0"/>
              </a:rPr>
              <a:t>Digital core)</a:t>
            </a:r>
            <a:endParaRPr lang="ru-RU" sz="2800" dirty="0">
              <a:solidFill>
                <a:schemeClr val="bg1"/>
              </a:solidFill>
              <a:latin typeface="HSE Sans" panose="02000000000000000000" pitchFamily="50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8429624" y="347598"/>
            <a:ext cx="3049435" cy="3109977"/>
            <a:chOff x="8818240" y="1314447"/>
            <a:chExt cx="3207196" cy="3207196"/>
          </a:xfrm>
        </p:grpSpPr>
        <p:sp>
          <p:nvSpPr>
            <p:cNvPr id="6" name="Овал 5"/>
            <p:cNvSpPr/>
            <p:nvPr/>
          </p:nvSpPr>
          <p:spPr>
            <a:xfrm>
              <a:off x="8818240" y="1314447"/>
              <a:ext cx="3207196" cy="3207196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A5BBB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9114595" y="1610801"/>
              <a:ext cx="2614489" cy="261448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4A5BB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2"/>
            <a:srcRect l="11802" t="15207" r="9653" b="9156"/>
            <a:stretch/>
          </p:blipFill>
          <p:spPr>
            <a:xfrm>
              <a:off x="9477757" y="2016424"/>
              <a:ext cx="1892808" cy="1901952"/>
            </a:xfrm>
            <a:prstGeom prst="rect">
              <a:avLst/>
            </a:prstGeom>
          </p:spPr>
        </p:pic>
      </p:grp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H="1" flipV="1">
            <a:off x="2164161" y="1850727"/>
            <a:ext cx="2652301" cy="2877"/>
          </a:xfrm>
          <a:prstGeom prst="line">
            <a:avLst/>
          </a:prstGeom>
          <a:ln w="76200">
            <a:solidFill>
              <a:srgbClr val="4A5BB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>
            <a:off x="1735537" y="2541557"/>
            <a:ext cx="1388663" cy="0"/>
          </a:xfrm>
          <a:prstGeom prst="line">
            <a:avLst/>
          </a:prstGeom>
          <a:ln w="76200">
            <a:solidFill>
              <a:srgbClr val="4A5BBB"/>
            </a:solidFill>
            <a:prstDash val="dash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564337" y="2872595"/>
            <a:ext cx="3907650" cy="1288035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latin typeface="HSE Sans" panose="02000000000000000000" pitchFamily="50" charset="0"/>
              </a:rPr>
              <a:t>Общеуниверситетские курсы</a:t>
            </a:r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8044651" y="2872595"/>
            <a:ext cx="0" cy="1555682"/>
          </a:xfrm>
          <a:prstGeom prst="line">
            <a:avLst/>
          </a:prstGeom>
          <a:ln w="76200">
            <a:solidFill>
              <a:srgbClr val="4A5BB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Скругленный прямоугольник 21"/>
          <p:cNvSpPr/>
          <p:nvPr/>
        </p:nvSpPr>
        <p:spPr>
          <a:xfrm>
            <a:off x="6086474" y="2822314"/>
            <a:ext cx="3907650" cy="1302276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SE Sans" panose="02000000000000000000" pitchFamily="50" charset="0"/>
              </a:rPr>
              <a:t>ОП «Филология»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411" y="4295466"/>
            <a:ext cx="1347672" cy="1347672"/>
          </a:xfrm>
          <a:prstGeom prst="rect">
            <a:avLst/>
          </a:prstGeom>
        </p:spPr>
      </p:pic>
      <p:sp>
        <p:nvSpPr>
          <p:cNvPr id="24" name="Скругленный прямоугольник 23"/>
          <p:cNvSpPr/>
          <p:nvPr/>
        </p:nvSpPr>
        <p:spPr>
          <a:xfrm>
            <a:off x="564337" y="4337949"/>
            <a:ext cx="3907650" cy="649226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Цифровая грамотность (1 курс)</a:t>
            </a: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564337" y="5130967"/>
            <a:ext cx="3907650" cy="649226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Программирование на </a:t>
            </a:r>
            <a:r>
              <a:rPr lang="en-US" dirty="0">
                <a:latin typeface="HSE Sans" panose="02000000000000000000" pitchFamily="50" charset="0"/>
              </a:rPr>
              <a:t>Python (2 </a:t>
            </a:r>
            <a:r>
              <a:rPr lang="ru-RU" dirty="0">
                <a:latin typeface="HSE Sans" panose="02000000000000000000" pitchFamily="50" charset="0"/>
              </a:rPr>
              <a:t>курс)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80FCE3D-7615-EB9D-CB5F-EEC147DA186A}"/>
              </a:ext>
            </a:extLst>
          </p:cNvPr>
          <p:cNvSpPr/>
          <p:nvPr/>
        </p:nvSpPr>
        <p:spPr>
          <a:xfrm>
            <a:off x="571212" y="5928300"/>
            <a:ext cx="3907650" cy="649225"/>
          </a:xfrm>
          <a:prstGeom prst="roundRect">
            <a:avLst/>
          </a:prstGeom>
          <a:solidFill>
            <a:srgbClr val="2C4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Анализ данных (3 курс)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3EE6D0F7-AA22-C76C-5059-C9E4A7BAB521}"/>
              </a:ext>
            </a:extLst>
          </p:cNvPr>
          <p:cNvSpPr/>
          <p:nvPr/>
        </p:nvSpPr>
        <p:spPr>
          <a:xfrm>
            <a:off x="6046691" y="4247561"/>
            <a:ext cx="3947433" cy="649227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Нейросетевые технологии в филологических практиках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43E1D366-1634-DBA6-E07F-6DA634236C8A}"/>
              </a:ext>
            </a:extLst>
          </p:cNvPr>
          <p:cNvSpPr/>
          <p:nvPr/>
        </p:nvSpPr>
        <p:spPr>
          <a:xfrm>
            <a:off x="6046691" y="4987175"/>
            <a:ext cx="3907650" cy="655963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Цифровая текстология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909A8AA-966F-21BB-E08D-CBF2857FD03C}"/>
              </a:ext>
            </a:extLst>
          </p:cNvPr>
          <p:cNvSpPr/>
          <p:nvPr/>
        </p:nvSpPr>
        <p:spPr>
          <a:xfrm>
            <a:off x="6046691" y="5780193"/>
            <a:ext cx="3907650" cy="649225"/>
          </a:xfrm>
          <a:prstGeom prst="roundRect">
            <a:avLst/>
          </a:prstGeom>
          <a:solidFill>
            <a:srgbClr val="4A5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HSE Sans" panose="02000000000000000000" pitchFamily="50" charset="0"/>
              </a:rPr>
              <a:t>Цифровой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75166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98348" y="252088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Студенческая мобильность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17043" y="1038225"/>
            <a:ext cx="10976609" cy="828675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Студенты программы принимают участие во внутриуниверситетской (НИУ ВШЭ – Москва, СПб) и внешней (международной мобильности)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5532875" y="5246408"/>
            <a:ext cx="1912636" cy="135950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8" y="2145619"/>
            <a:ext cx="4845557" cy="4140881"/>
          </a:xfrm>
          <a:prstGeom prst="rect">
            <a:avLst/>
          </a:prstGeom>
        </p:spPr>
      </p:pic>
      <p:pic>
        <p:nvPicPr>
          <p:cNvPr id="2054" name="Picture 6" descr="Учеба в Армении, волонтерство в Италии, театр в Париже: как успеть всё за четыре года бакалавриата — рассказывает Александра Шкоян">
            <a:extLst>
              <a:ext uri="{FF2B5EF4-FFF2-40B4-BE49-F238E27FC236}">
                <a16:creationId xmlns:a16="http://schemas.microsoft.com/office/drawing/2014/main" id="{4236BC45-636C-F7BA-CECD-2DCB01B53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152" y="1981514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61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98348" y="252088"/>
            <a:ext cx="11195304" cy="658368"/>
          </a:xfrm>
          <a:prstGeom prst="rect">
            <a:avLst/>
          </a:prstGeom>
          <a:solidFill>
            <a:srgbClr val="4A5BBB"/>
          </a:solidFill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2400" b="1" dirty="0">
                <a:solidFill>
                  <a:schemeClr val="bg1"/>
                </a:solidFill>
                <a:latin typeface="HSE Sans" panose="02000000000000000000" pitchFamily="50" charset="0"/>
              </a:rPr>
              <a:t>Наука и академические перспективы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98348" y="1183432"/>
            <a:ext cx="2949702" cy="225509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946398" y="2081491"/>
            <a:ext cx="4642966" cy="3312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Наши студенты с 1 курса не только пишут самостоятельные научные исследования, но и участвуют в студенческих научных конференциях, становятся победителями и лауреатами НИРС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02D69"/>
                </a:solidFill>
              </a:rPr>
              <a:t>Более чем у половины студентов к моменту окончания есть опыт участия в научных конференциях, приблизительно у четверти – научные публикации, в том числе в рецензируемых журналах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743950" y="4000746"/>
            <a:ext cx="2949702" cy="225509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5309286" y="1268793"/>
            <a:ext cx="1573428" cy="812698"/>
            <a:chOff x="5309286" y="1268793"/>
            <a:chExt cx="1573428" cy="812698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9651" y="1268793"/>
              <a:ext cx="812698" cy="812698"/>
            </a:xfrm>
            <a:prstGeom prst="rect">
              <a:avLst/>
            </a:prstGeom>
          </p:spPr>
        </p:pic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9286" y="1522761"/>
              <a:ext cx="304762" cy="304762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7952" y="1522761"/>
              <a:ext cx="304762" cy="304762"/>
            </a:xfrm>
            <a:prstGeom prst="rect">
              <a:avLst/>
            </a:prstGeom>
          </p:spPr>
        </p:pic>
      </p:grpSp>
      <p:grpSp>
        <p:nvGrpSpPr>
          <p:cNvPr id="14" name="Группа 13"/>
          <p:cNvGrpSpPr/>
          <p:nvPr/>
        </p:nvGrpSpPr>
        <p:grpSpPr>
          <a:xfrm>
            <a:off x="5309286" y="5393531"/>
            <a:ext cx="1573428" cy="812698"/>
            <a:chOff x="5309286" y="1268793"/>
            <a:chExt cx="1573428" cy="812698"/>
          </a:xfrm>
        </p:grpSpPr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9651" y="1268793"/>
              <a:ext cx="812698" cy="812698"/>
            </a:xfrm>
            <a:prstGeom prst="rect">
              <a:avLst/>
            </a:prstGeom>
          </p:spPr>
        </p:pic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9286" y="1522761"/>
              <a:ext cx="304762" cy="304762"/>
            </a:xfrm>
            <a:prstGeom prst="rect">
              <a:avLst/>
            </a:prstGeom>
          </p:spPr>
        </p:pic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7952" y="1522761"/>
              <a:ext cx="304762" cy="304762"/>
            </a:xfrm>
            <a:prstGeom prst="rect">
              <a:avLst/>
            </a:prstGeom>
          </p:spPr>
        </p:pic>
      </p:grpSp>
      <p:pic>
        <p:nvPicPr>
          <p:cNvPr id="3078" name="Picture 6">
            <a:extLst>
              <a:ext uri="{FF2B5EF4-FFF2-40B4-BE49-F238E27FC236}">
                <a16:creationId xmlns:a16="http://schemas.microsoft.com/office/drawing/2014/main" id="{3939C711-E1BE-C797-EEA6-53FF7C461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0985" y="4249348"/>
            <a:ext cx="2735632" cy="182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6AB75A8-BAA7-C30E-1BD5-A8E29698DC33}"/>
              </a:ext>
            </a:extLst>
          </p:cNvPr>
          <p:cNvSpPr/>
          <p:nvPr/>
        </p:nvSpPr>
        <p:spPr>
          <a:xfrm>
            <a:off x="8850985" y="1268793"/>
            <a:ext cx="2949702" cy="225509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74F6F19-4D75-87A9-5269-78B3A9B4AD69}"/>
              </a:ext>
            </a:extLst>
          </p:cNvPr>
          <p:cNvSpPr/>
          <p:nvPr/>
        </p:nvSpPr>
        <p:spPr>
          <a:xfrm>
            <a:off x="-5133239" y="4988985"/>
            <a:ext cx="730993" cy="496552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20" name="Picture 8" descr="Иллюстрация к новости: «Быть в Вышке» стало понятным и естественным состоянием">
            <a:extLst>
              <a:ext uri="{FF2B5EF4-FFF2-40B4-BE49-F238E27FC236}">
                <a16:creationId xmlns:a16="http://schemas.microsoft.com/office/drawing/2014/main" id="{21D39266-7392-5548-3483-37BA3A68E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158" y="1556708"/>
            <a:ext cx="2598565" cy="173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9BB28642-55FC-7A2A-19D9-F453988FEE45}"/>
              </a:ext>
            </a:extLst>
          </p:cNvPr>
          <p:cNvSpPr/>
          <p:nvPr/>
        </p:nvSpPr>
        <p:spPr>
          <a:xfrm>
            <a:off x="498348" y="3818008"/>
            <a:ext cx="2949702" cy="225509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3082" name="Picture 10" descr="Иллюстрация к новости: В Вышке я на 100% чувствую себя на своем месте">
            <a:extLst>
              <a:ext uri="{FF2B5EF4-FFF2-40B4-BE49-F238E27FC236}">
                <a16:creationId xmlns:a16="http://schemas.microsoft.com/office/drawing/2014/main" id="{90EF4118-203F-A7D0-07C9-BAE232113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65" y="1437959"/>
            <a:ext cx="2759123" cy="183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utoShape 12" descr="«Мое увлечение филологией не было предопределенным»">
            <a:extLst>
              <a:ext uri="{FF2B5EF4-FFF2-40B4-BE49-F238E27FC236}">
                <a16:creationId xmlns:a16="http://schemas.microsoft.com/office/drawing/2014/main" id="{D8208243-DB00-3565-6903-5ECE6A0F82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9ADB3F6-4B1C-8D76-93AF-043DD92E07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776" y="3831205"/>
            <a:ext cx="2169910" cy="21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9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4350" y="252088"/>
            <a:ext cx="11144250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Перспективы по окончании обучения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Шеврон 3"/>
          <p:cNvSpPr/>
          <p:nvPr/>
        </p:nvSpPr>
        <p:spPr>
          <a:xfrm>
            <a:off x="657225" y="1162544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Наука</a:t>
            </a:r>
          </a:p>
        </p:txBody>
      </p:sp>
      <p:sp>
        <p:nvSpPr>
          <p:cNvPr id="5" name="Шеврон 4"/>
          <p:cNvSpPr/>
          <p:nvPr/>
        </p:nvSpPr>
        <p:spPr>
          <a:xfrm>
            <a:off x="657225" y="2038844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Образование</a:t>
            </a:r>
          </a:p>
        </p:txBody>
      </p:sp>
      <p:sp>
        <p:nvSpPr>
          <p:cNvPr id="6" name="Шеврон 5"/>
          <p:cNvSpPr/>
          <p:nvPr/>
        </p:nvSpPr>
        <p:spPr>
          <a:xfrm>
            <a:off x="657225" y="2915144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HSE Sans" panose="02000000000000000000" pitchFamily="50" charset="0"/>
              </a:rPr>
              <a:t>IT</a:t>
            </a:r>
            <a:endParaRPr lang="ru-RU" b="1" dirty="0">
              <a:solidFill>
                <a:schemeClr val="bg1"/>
              </a:solidFill>
              <a:latin typeface="HSE Sans" panose="02000000000000000000" pitchFamily="50" charset="0"/>
            </a:endParaRPr>
          </a:p>
        </p:txBody>
      </p:sp>
      <p:sp>
        <p:nvSpPr>
          <p:cNvPr id="7" name="Шеврон 6"/>
          <p:cNvSpPr/>
          <p:nvPr/>
        </p:nvSpPr>
        <p:spPr>
          <a:xfrm>
            <a:off x="581025" y="3791444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bg1"/>
                </a:solidFill>
                <a:latin typeface="HSE Sans" panose="02000000000000000000" pitchFamily="50" charset="0"/>
              </a:rPr>
              <a:t>«Цифровая вселенная»</a:t>
            </a:r>
          </a:p>
        </p:txBody>
      </p:sp>
      <p:sp>
        <p:nvSpPr>
          <p:cNvPr id="8" name="Шеврон 7"/>
          <p:cNvSpPr/>
          <p:nvPr/>
        </p:nvSpPr>
        <p:spPr>
          <a:xfrm>
            <a:off x="581025" y="4673325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HSE Sans" panose="02000000000000000000" pitchFamily="50" charset="0"/>
              </a:rPr>
              <a:t>Издательства</a:t>
            </a:r>
          </a:p>
        </p:txBody>
      </p:sp>
      <p:sp>
        <p:nvSpPr>
          <p:cNvPr id="9" name="Шеврон 8"/>
          <p:cNvSpPr/>
          <p:nvPr/>
        </p:nvSpPr>
        <p:spPr>
          <a:xfrm>
            <a:off x="514350" y="5558243"/>
            <a:ext cx="1899192" cy="714375"/>
          </a:xfrm>
          <a:prstGeom prst="chevron">
            <a:avLst/>
          </a:prstGeom>
          <a:solidFill>
            <a:srgbClr val="102D69"/>
          </a:solidFill>
          <a:ln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HSE Sans" panose="02000000000000000000" pitchFamily="50" charset="0"/>
              </a:rPr>
              <a:t>Творчество</a:t>
            </a:r>
          </a:p>
        </p:txBody>
      </p:sp>
      <p:sp>
        <p:nvSpPr>
          <p:cNvPr id="10" name="Шеврон 9"/>
          <p:cNvSpPr/>
          <p:nvPr/>
        </p:nvSpPr>
        <p:spPr>
          <a:xfrm>
            <a:off x="2647950" y="4669506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Издательское дело, литературное редактирование, предпечатная подготовка</a:t>
            </a:r>
          </a:p>
        </p:txBody>
      </p:sp>
      <p:sp>
        <p:nvSpPr>
          <p:cNvPr id="11" name="Шеврон 10"/>
          <p:cNvSpPr/>
          <p:nvPr/>
        </p:nvSpPr>
        <p:spPr>
          <a:xfrm>
            <a:off x="2647950" y="2038844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Школы, лицеи, гимназии, онлайн-образование</a:t>
            </a:r>
          </a:p>
        </p:txBody>
      </p:sp>
      <p:sp>
        <p:nvSpPr>
          <p:cNvPr id="12" name="Шеврон 11"/>
          <p:cNvSpPr/>
          <p:nvPr/>
        </p:nvSpPr>
        <p:spPr>
          <a:xfrm>
            <a:off x="2647950" y="2915144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Программирование, работа с сайтами</a:t>
            </a:r>
          </a:p>
        </p:txBody>
      </p:sp>
      <p:sp>
        <p:nvSpPr>
          <p:cNvPr id="13" name="Шеврон 12"/>
          <p:cNvSpPr/>
          <p:nvPr/>
        </p:nvSpPr>
        <p:spPr>
          <a:xfrm>
            <a:off x="2647950" y="3791444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Наполнение сайтов: поиск, отбор, верификация, структурирование и упаковка информации</a:t>
            </a:r>
          </a:p>
        </p:txBody>
      </p:sp>
      <p:sp>
        <p:nvSpPr>
          <p:cNvPr id="14" name="Шеврон 13"/>
          <p:cNvSpPr/>
          <p:nvPr/>
        </p:nvSpPr>
        <p:spPr>
          <a:xfrm>
            <a:off x="2647950" y="1162543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Университеты, научные институты</a:t>
            </a:r>
          </a:p>
        </p:txBody>
      </p:sp>
      <p:sp>
        <p:nvSpPr>
          <p:cNvPr id="15" name="Шеврон 14"/>
          <p:cNvSpPr/>
          <p:nvPr/>
        </p:nvSpPr>
        <p:spPr>
          <a:xfrm>
            <a:off x="2642142" y="5559636"/>
            <a:ext cx="9010650" cy="714375"/>
          </a:xfrm>
          <a:prstGeom prst="chevron">
            <a:avLst/>
          </a:prstGeom>
          <a:noFill/>
          <a:ln w="38100">
            <a:solidFill>
              <a:srgbClr val="10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Журналистика, блогерство, литературная критика, художественный перевод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10211775" y="252088"/>
            <a:ext cx="1912636" cy="135950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91366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4329874" y="3577155"/>
            <a:ext cx="3425952" cy="28376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02D69"/>
                </a:solidFill>
              </a:rPr>
              <a:t>в науке и образовании</a:t>
            </a:r>
            <a:endParaRPr lang="en-US" sz="2000" b="1" dirty="0">
              <a:solidFill>
                <a:srgbClr val="102D69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02D69"/>
                </a:solidFill>
              </a:rPr>
              <a:t>издательских проектах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02D69"/>
                </a:solidFill>
              </a:rPr>
              <a:t>реализации цифровых культурных проектов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02D69"/>
                </a:solidFill>
              </a:rPr>
              <a:t>дизайне, маркетинге, менеджменте, </a:t>
            </a:r>
            <a:r>
              <a:rPr lang="en-US" sz="2000" b="1" dirty="0">
                <a:solidFill>
                  <a:srgbClr val="102D69"/>
                </a:solidFill>
              </a:rPr>
              <a:t>IT</a:t>
            </a:r>
            <a:endParaRPr lang="ru-RU" sz="2000" b="1" dirty="0">
              <a:solidFill>
                <a:srgbClr val="102D69"/>
              </a:solidFill>
            </a:endParaRPr>
          </a:p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948072" y="2074495"/>
            <a:ext cx="2548036" cy="1207941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392049" y="198753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Наши выпускники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234362" y="857121"/>
            <a:ext cx="3425952" cy="283765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59557" y="1055874"/>
            <a:ext cx="2500862" cy="20714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</a:rPr>
              <a:t>Выпускники нашей программы успешно работают</a:t>
            </a:r>
          </a:p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25387" y="4080782"/>
            <a:ext cx="3660245" cy="2373622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060029" y="4192434"/>
            <a:ext cx="3706583" cy="226197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4187CC1-20B2-842B-7DD2-100E3B2CE7C9}"/>
              </a:ext>
            </a:extLst>
          </p:cNvPr>
          <p:cNvSpPr/>
          <p:nvPr/>
        </p:nvSpPr>
        <p:spPr>
          <a:xfrm>
            <a:off x="425387" y="857121"/>
            <a:ext cx="3425952" cy="283765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4100" name="Picture 4" descr="Иллюстрация к новости: Из музыки — в филологию, из филологии — в ИТ: история Виктории Шестовой">
            <a:extLst>
              <a:ext uri="{FF2B5EF4-FFF2-40B4-BE49-F238E27FC236}">
                <a16:creationId xmlns:a16="http://schemas.microsoft.com/office/drawing/2014/main" id="{CDE641F2-226B-E552-2B98-BDD0F60CB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86" y="1243126"/>
            <a:ext cx="3183026" cy="212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Иллюстрация к новости: “Разрешите сфотографировать?” Интервью с Даниилом Максюковым">
            <a:extLst>
              <a:ext uri="{FF2B5EF4-FFF2-40B4-BE49-F238E27FC236}">
                <a16:creationId xmlns:a16="http://schemas.microsoft.com/office/drawing/2014/main" id="{398D5A0D-9E3A-2404-DB97-99FD61AA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92" y="4192433"/>
            <a:ext cx="3208549" cy="213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Иллюстрация к новости: «Дорогая редакция»: как начать карьеру в издательском бизнесе">
            <a:extLst>
              <a:ext uri="{FF2B5EF4-FFF2-40B4-BE49-F238E27FC236}">
                <a16:creationId xmlns:a16="http://schemas.microsoft.com/office/drawing/2014/main" id="{0B5B07CC-DBED-01F0-C668-24B23C0BA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578" y="4241827"/>
            <a:ext cx="3244775" cy="216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35CDCA-3E60-6349-8A49-DE23E5D74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491" y="900832"/>
            <a:ext cx="2830947" cy="27702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10226214" y="124019"/>
            <a:ext cx="1912636" cy="135950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3360090" y="3035387"/>
            <a:ext cx="1956442" cy="139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26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4350" y="252088"/>
            <a:ext cx="11144250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Студенческая жизнь программы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4350" y="5124944"/>
            <a:ext cx="11144250" cy="1200150"/>
          </a:xfrm>
          <a:prstGeom prst="roundRect">
            <a:avLst/>
          </a:prstGeom>
          <a:solidFill>
            <a:srgbClr val="2C4878"/>
          </a:solidFill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HSE Sans" panose="02000000000000000000" pitchFamily="50" charset="0"/>
              </a:rPr>
              <a:t>Студенческие годы – это не только учеба!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HSE Sans" panose="02000000000000000000" pitchFamily="50" charset="0"/>
              </a:rPr>
              <a:t>ТФМ – Театрально-филологическая мастерская под руководством проф. Л.Ю. Большухина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HSE Sans" panose="02000000000000000000" pitchFamily="50" charset="0"/>
              </a:rPr>
              <a:t>Выездные семинары, поездки, экскурсии</a:t>
            </a:r>
          </a:p>
          <a:p>
            <a:pPr algn="ctr"/>
            <a:endParaRPr lang="ru-RU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14350" y="1162544"/>
            <a:ext cx="3438525" cy="361637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300537" y="1162544"/>
            <a:ext cx="3571875" cy="361637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20074" y="1209513"/>
            <a:ext cx="3486150" cy="361637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5122" name="Picture 2" descr="Иллюстрация к новости: «От всего человека нам остаётся...», или Три концепции литературного музея">
            <a:extLst>
              <a:ext uri="{FF2B5EF4-FFF2-40B4-BE49-F238E27FC236}">
                <a16:creationId xmlns:a16="http://schemas.microsoft.com/office/drawing/2014/main" id="{AA23568A-98AC-AD78-AE59-F7C333EF5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783" y="1826937"/>
            <a:ext cx="3431382" cy="228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Иллюстрация к новости: Выпускной как ключ к успешному будущему">
            <a:extLst>
              <a:ext uri="{FF2B5EF4-FFF2-40B4-BE49-F238E27FC236}">
                <a16:creationId xmlns:a16="http://schemas.microsoft.com/office/drawing/2014/main" id="{05CE0AA1-92E0-C5C0-1338-BBF6E93BE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876" y="1892775"/>
            <a:ext cx="3374774" cy="224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8082818F-4859-DD11-7182-AA1A809E7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79" y="1806186"/>
            <a:ext cx="3221728" cy="242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453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98348" y="345985"/>
            <a:ext cx="11195304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2800" b="1" dirty="0">
                <a:solidFill>
                  <a:srgbClr val="102D69"/>
                </a:solidFill>
                <a:latin typeface="HSE Sans" panose="02000000000000000000" pitchFamily="50" charset="0"/>
              </a:rPr>
              <a:t>Траектории поступления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6528830" y="3446181"/>
            <a:ext cx="2835677" cy="2835677"/>
          </a:xfrm>
          <a:prstGeom prst="ellipse">
            <a:avLst/>
          </a:prstGeom>
          <a:ln w="38100">
            <a:solidFill>
              <a:srgbClr val="7682CC"/>
            </a:solidFill>
            <a:prstDash val="lg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rgbClr val="28306A"/>
                </a:solidFill>
                <a:latin typeface="HSE Sans" panose="02000000000000000000" pitchFamily="50" charset="0"/>
                <a:ea typeface="+mj-ea"/>
                <a:cs typeface="+mj-cs"/>
              </a:rPr>
              <a:t>Стоимость платного обучения – 420 </a:t>
            </a:r>
            <a:r>
              <a:rPr lang="ru-RU" sz="1600" b="1" dirty="0" err="1">
                <a:solidFill>
                  <a:srgbClr val="28306A"/>
                </a:solidFill>
                <a:latin typeface="HSE Sans" panose="02000000000000000000" pitchFamily="50" charset="0"/>
                <a:ea typeface="+mj-ea"/>
                <a:cs typeface="+mj-cs"/>
              </a:rPr>
              <a:t>т.р</a:t>
            </a:r>
            <a:r>
              <a:rPr lang="ru-RU" sz="1600" b="1" dirty="0">
                <a:solidFill>
                  <a:srgbClr val="28306A"/>
                </a:solidFill>
                <a:latin typeface="HSE Sans" panose="02000000000000000000" pitchFamily="50" charset="0"/>
                <a:ea typeface="+mj-ea"/>
                <a:cs typeface="+mj-cs"/>
              </a:rPr>
              <a:t>. В год</a:t>
            </a:r>
          </a:p>
        </p:txBody>
      </p:sp>
      <p:sp>
        <p:nvSpPr>
          <p:cNvPr id="13" name="Овал 12"/>
          <p:cNvSpPr/>
          <p:nvPr/>
        </p:nvSpPr>
        <p:spPr>
          <a:xfrm>
            <a:off x="6846532" y="1466695"/>
            <a:ext cx="2200275" cy="2200275"/>
          </a:xfrm>
          <a:prstGeom prst="ellipse">
            <a:avLst/>
          </a:prstGeom>
          <a:ln w="38100">
            <a:solidFill>
              <a:srgbClr val="7682CC"/>
            </a:solidFill>
            <a:prstDash val="lg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rgbClr val="28306A"/>
                </a:solidFill>
                <a:latin typeface="HSE Sans" panose="02000000000000000000" pitchFamily="50" charset="0"/>
                <a:ea typeface="+mj-ea"/>
                <a:cs typeface="+mj-cs"/>
              </a:rPr>
              <a:t>Проходной балл 2025 года - 262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6154255" y="1131128"/>
            <a:ext cx="1912636" cy="1359504"/>
          </a:xfrm>
          <a:prstGeom prst="rect">
            <a:avLst/>
          </a:prstGeom>
        </p:spPr>
      </p:pic>
      <p:sp>
        <p:nvSpPr>
          <p:cNvPr id="15" name="Овал 14"/>
          <p:cNvSpPr/>
          <p:nvPr/>
        </p:nvSpPr>
        <p:spPr>
          <a:xfrm>
            <a:off x="8384593" y="2012669"/>
            <a:ext cx="3160586" cy="3160586"/>
          </a:xfrm>
          <a:prstGeom prst="ellipse">
            <a:avLst/>
          </a:prstGeom>
          <a:ln w="38100">
            <a:solidFill>
              <a:srgbClr val="7682CC"/>
            </a:solidFill>
            <a:prstDash val="lg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rgbClr val="28306A"/>
                </a:solidFill>
                <a:latin typeface="HSE Sans" panose="02000000000000000000" pitchFamily="50" charset="0"/>
              </a:rPr>
              <a:t>25 бюджетных мест,</a:t>
            </a:r>
          </a:p>
          <a:p>
            <a:pPr algn="ctr"/>
            <a:r>
              <a:rPr lang="ru-RU" sz="2200" b="1" dirty="0">
                <a:solidFill>
                  <a:srgbClr val="28306A"/>
                </a:solidFill>
                <a:latin typeface="HSE Sans" panose="02000000000000000000" pitchFamily="50" charset="0"/>
              </a:rPr>
              <a:t>8 внебюджетных мест,</a:t>
            </a:r>
          </a:p>
          <a:p>
            <a:pPr algn="ctr"/>
            <a:r>
              <a:rPr lang="ru-RU" sz="2200" b="1" dirty="0">
                <a:solidFill>
                  <a:srgbClr val="28306A"/>
                </a:solidFill>
                <a:latin typeface="HSE Sans" panose="02000000000000000000" pitchFamily="50" charset="0"/>
              </a:rPr>
              <a:t>1 место для иностранных студентов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8408189" y="4798792"/>
            <a:ext cx="1912636" cy="135950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17" name="Скругленный прямоугольник 16"/>
          <p:cNvSpPr/>
          <p:nvPr/>
        </p:nvSpPr>
        <p:spPr>
          <a:xfrm>
            <a:off x="556561" y="1254690"/>
            <a:ext cx="4950874" cy="5027168"/>
          </a:xfrm>
          <a:prstGeom prst="roundRect">
            <a:avLst/>
          </a:prstGeom>
          <a:solidFill>
            <a:srgbClr val="102D69"/>
          </a:solidFill>
          <a:ln w="38100">
            <a:solidFill>
              <a:srgbClr val="4A5B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По результатам ЕГЭ: русский язык, литература, иностранный язык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Минимальный балл – 60 по каждому предмету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По результатам перечневых олимпиад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Более подробная информация – на сайте программы и приемной комиссии</a:t>
            </a:r>
          </a:p>
        </p:txBody>
      </p:sp>
    </p:spTree>
    <p:extLst>
      <p:ext uri="{BB962C8B-B14F-4D97-AF65-F5344CB8AC3E}">
        <p14:creationId xmlns:p14="http://schemas.microsoft.com/office/powerpoint/2010/main" val="987840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4350" y="252088"/>
            <a:ext cx="11144250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Дополнительная информация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4349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229475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4795837" y="2511613"/>
            <a:ext cx="2581276" cy="183477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8" name="Скругленный прямоугольник 7"/>
          <p:cNvSpPr/>
          <p:nvPr/>
        </p:nvSpPr>
        <p:spPr>
          <a:xfrm>
            <a:off x="514349" y="5567362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ОП «Филология» - НИУ ВШЭ – Нижний Новгород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229475" y="5595835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Приемная комиссия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188A4B-C244-00C0-5A36-45AE2188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" y="1233692"/>
            <a:ext cx="3856176" cy="38561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14C23C-B592-FFBA-622A-03CFF4B7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436" y="1380087"/>
            <a:ext cx="3709781" cy="37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8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4350" y="252088"/>
            <a:ext cx="11144250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Дополнительная информация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4349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229475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4805362" y="2511613"/>
            <a:ext cx="2581276" cy="1834774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8" name="Скругленный прямоугольник 7"/>
          <p:cNvSpPr/>
          <p:nvPr/>
        </p:nvSpPr>
        <p:spPr>
          <a:xfrm>
            <a:off x="514349" y="5567362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rgbClr val="102D69"/>
                </a:solidFill>
                <a:latin typeface="HSE Sans" panose="02000000000000000000" pitchFamily="50" charset="0"/>
              </a:rPr>
              <a:t>Тг</a:t>
            </a:r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-канал для поступающих на программу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229475" y="5595835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Группа в ВК для поступающих на программу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95EDEE-FC9D-1CD3-2329-564A5BE3A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91" y="1568155"/>
            <a:ext cx="3066771" cy="36190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F726551-7742-AEE7-4355-FCEF7E073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37" y="1406745"/>
            <a:ext cx="3824701" cy="382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35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4350" y="252088"/>
            <a:ext cx="11144250" cy="658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ru-RU" sz="3200" b="1" dirty="0">
                <a:solidFill>
                  <a:srgbClr val="102D69"/>
                </a:solidFill>
                <a:latin typeface="HSE Sans" panose="02000000000000000000" pitchFamily="50" charset="0"/>
              </a:rPr>
              <a:t>Дополнительная информация</a:t>
            </a:r>
            <a:endParaRPr lang="ru-RU" sz="2400" dirty="0">
              <a:solidFill>
                <a:srgbClr val="102D69"/>
              </a:solidFill>
              <a:latin typeface="HSE Sans" panose="02000000000000000000" pitchFamily="50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4A5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4349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229475" y="1233692"/>
            <a:ext cx="4429125" cy="4010434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9800" r="9100" b="29001"/>
          <a:stretch/>
        </p:blipFill>
        <p:spPr>
          <a:xfrm>
            <a:off x="4795837" y="2511613"/>
            <a:ext cx="2581276" cy="183477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8" name="Скругленный прямоугольник 7"/>
          <p:cNvSpPr/>
          <p:nvPr/>
        </p:nvSpPr>
        <p:spPr>
          <a:xfrm>
            <a:off x="514349" y="5567362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Образовательный канал «Лестница»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229475" y="5595835"/>
            <a:ext cx="4429125" cy="910456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02D69"/>
                </a:solidFill>
                <a:latin typeface="HSE Sans" panose="02000000000000000000" pitchFamily="50" charset="0"/>
              </a:rPr>
              <a:t>Клуб для старшеклассников «ФиЛин»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ACB551-DED4-FC3A-E377-E5E89CE3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11" y="1272601"/>
            <a:ext cx="3332509" cy="39326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9B9BA1-13BD-B21A-31A2-14067F79A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068" y="1283621"/>
            <a:ext cx="3831297" cy="383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14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1338</Words>
  <Application>Microsoft Macintosh PowerPoint</Application>
  <PresentationFormat>Широкоэкранный</PresentationFormat>
  <Paragraphs>262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HSE Sans</vt:lpstr>
      <vt:lpstr>Тема Office</vt:lpstr>
      <vt:lpstr>Бакалаврская программа  «Филология» НИУ ВШЭ – Нижний Новгород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Бакалаврская программа  «Филология» (Нижний Новгород)</dc:title>
  <dc:creator>User</dc:creator>
  <cp:lastModifiedBy>Гельфонд Мария Марковна</cp:lastModifiedBy>
  <cp:revision>46</cp:revision>
  <dcterms:created xsi:type="dcterms:W3CDTF">2025-11-26T14:50:32Z</dcterms:created>
  <dcterms:modified xsi:type="dcterms:W3CDTF">2026-03-03T13:43:06Z</dcterms:modified>
</cp:coreProperties>
</file>